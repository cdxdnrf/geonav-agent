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约30秒。强调课题是主动探索：行动改变下一步观察。此处为真实SwissView航拍资料示意，实验结论限于切图仿真。不要把当前成绩表述为无人机实飞。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约40秒。基础协议5×5/B10，扩展10×10/B20。越界停留原地并耗步，最后一步到达也成功。训练奖励可以用真值，推理输入不含真值。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约40秒。正式任务要求主动探索平台，允许训练，多Agent可选。GOMAA-Geo的零样本跨模态泛化不等于没有训练；本系统目前只验证航拍目标同模态。资料来源为本地三篇论文和任务对应说明。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约45秒。NoTarget指探索器目标通道为训练均值，不是全系统忽略目标。视觉头比较目标与当前图的语义、局部关系及边缘；最高方向概率≥0.50且合法、未访问才接管。其余按探索器。系统有训练。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约40秒。Masa本地规模与论文完整规模不同，不能把本地SR直接减论文SR。源文件独立不等于严格地理无重叠。回放检查逐步神经决策和环境终止，避免只有汇总数字。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约45秒。四行均三权重平均。源文件数4/10/20/20，S4源文件已见，SwissView原正式迁移20新源文件。S2/S3/S4验收通过和后续新候选失败分别记录；后者不回写前者。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禁用cue59.40%、均值52.20%、错误图57.20%。均值和错图同时作用于目标global/local/edge通道，错误图环境仍按真目标评测。4500新控制+1500复用Full，全6000条审计。证明此队列目标图有用，不等于继续训练稳定优于原默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约50秒。原M0 72.07%，Continue5 72.67%，源文件95%SR差区间[-0.87,+2.27]点。恢复185、损伤176，净9/1500。5×5保护通过但10×10未满足+2点/2正权重/CI正。6000新记录重放、2500图块重建通过；不继续调参，也不追加条件控制。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约45秒。多Agent不是没做过，已有小实验和接口修复后的T/D/G同预算闭环；当前证据不足扩大。保护规则修复损伤但丢失恢复；不可通过叠加更多规则保证SR。所有旧判定与源码快照保留。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约40秒。当前单Agent已满足继续推进的基础条件。暂不建设大系统或重复训练；先收束材料再选择新假设。GUI不是成功率验收前置；若用于答辩，应只读已有日志。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约35秒。代码、数据、模型和原始实验路径保留。清理只删除可再生缓存和核查后的重复副本，并留恢复清单。当前最新到科研图35，架构/边界图2张。后续最终报告按已验证范围表述。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约20秒。收束：主线已验收，新增继续训练没有稳定SR优势，因此不替换默认。课题完成的是仿真主动搜索平台和受控证据，真实多模态与实飞属于后续。进入问答。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0936"/>
            <a:ext cx="7132320" cy="45720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D4DFD5"/>
                </a:solidFill>
                <a:latin typeface="Microsoft YaHei"/>
              </a:defRPr>
            </a:pPr>
            <a:r>
              <a:t>综合工程设计中期汇报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6995160" cy="196596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700" b="1">
                <a:solidFill>
                  <a:srgbClr val="FFFFFF"/>
                </a:solidFill>
                <a:latin typeface="Microsoft YaHei"/>
              </a:defRPr>
            </a:pPr>
            <a:r>
              <a:t>基于主动探索的</a:t>
            </a:r>
          </a:p>
          <a:p>
            <a:pPr>
              <a:spcAft>
                <a:spcPts val="900"/>
              </a:spcAft>
              <a:defRPr sz="3700" b="1">
                <a:solidFill>
                  <a:srgbClr val="FFFFFF"/>
                </a:solidFill>
                <a:latin typeface="Microsoft YaHei"/>
              </a:defRPr>
            </a:pPr>
            <a:r>
              <a:t>视觉地理定位方法</a:t>
            </a:r>
          </a:p>
          <a:p>
            <a:pPr>
              <a:spcAft>
                <a:spcPts val="900"/>
              </a:spcAft>
              <a:defRPr sz="3700" b="1">
                <a:solidFill>
                  <a:srgbClr val="FFFFFF"/>
                </a:solidFill>
                <a:latin typeface="Microsoft YaHei"/>
              </a:defRPr>
            </a:pPr>
            <a:r>
              <a:t>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22776"/>
            <a:ext cx="6583680" cy="75895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D4DFD5"/>
                </a:solidFill>
                <a:latin typeface="Microsoft YaHei"/>
              </a:defRPr>
            </a:pPr>
            <a:r>
              <a:t>平台与单智能体主线已验收</a:t>
            </a:r>
          </a:p>
          <a:p>
            <a:pPr>
              <a:spcAft>
                <a:spcPts val="900"/>
              </a:spcAft>
              <a:defRPr sz="2200" b="0">
                <a:solidFill>
                  <a:srgbClr val="D4DFD5"/>
                </a:solidFill>
                <a:latin typeface="Microsoft YaHei"/>
              </a:defRPr>
            </a:pPr>
            <a:r>
              <a:t>网格密度与同模态迁移已有实证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33288"/>
            <a:ext cx="7040880" cy="57607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D4DFD5"/>
                </a:solidFill>
                <a:latin typeface="Microsoft YaHei"/>
              </a:defRPr>
            </a:pPr>
            <a:r>
              <a:t>陈德昕  李世显  陈龙辉   |   指导教师 王笛</a:t>
            </a:r>
          </a:p>
          <a:p>
            <a:pPr>
              <a:spcAft>
                <a:spcPts val="900"/>
              </a:spcAft>
              <a:defRPr sz="1500" b="0">
                <a:solidFill>
                  <a:srgbClr val="D4DFD5"/>
                </a:solidFill>
                <a:latin typeface="Microsoft YaHei"/>
              </a:defRPr>
            </a:pPr>
            <a:r>
              <a:t>2026 年 10 月 2 日</a:t>
            </a:r>
          </a:p>
        </p:txBody>
      </p:sp>
      <p:pic>
        <p:nvPicPr>
          <p:cNvPr id="6" name="Picture 5" descr="swisstopo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467612"/>
            <a:ext cx="361188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73568" y="5660136"/>
            <a:ext cx="3566160" cy="41148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D4DFD5"/>
                </a:solidFill>
                <a:latin typeface="Microsoft YaHei"/>
              </a:defRPr>
            </a:pPr>
            <a:r>
              <a:t>航拍切图仿真  ·  固定预算搜索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任务是连续观察与自主搜索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给定目标图，在有限预算内通过移动获得新信息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856231"/>
            <a:ext cx="2523744" cy="1536192"/>
          </a:xfrm>
          <a:prstGeom prst="roundRect">
            <a:avLst/>
          </a:prstGeom>
          <a:solidFill>
            <a:srgbClr val="E4ECE4"/>
          </a:solidFill>
          <a:ln w="12700">
            <a:solidFill>
              <a:srgbClr val="356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02536"/>
            <a:ext cx="2194560" cy="39319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B54"/>
                </a:solidFill>
                <a:latin typeface="Microsoft YaHei"/>
              </a:defRPr>
            </a:pPr>
            <a:r>
              <a:t>观察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69464"/>
            <a:ext cx="2194560" cy="78638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43329"/>
                </a:solidFill>
                <a:latin typeface="Microsoft YaHei"/>
              </a:defRPr>
            </a:pPr>
            <a:r>
              <a:t>当前航拍图</a:t>
            </a:r>
          </a:p>
          <a:p>
            <a:pPr>
              <a:spcAft>
                <a:spcPts val="900"/>
              </a:spcAft>
              <a:defRPr sz="2000" b="0">
                <a:solidFill>
                  <a:srgbClr val="243329"/>
                </a:solidFill>
                <a:latin typeface="Microsoft YaHei"/>
              </a:defRPr>
            </a:pPr>
            <a:r>
              <a:t>给定目标图</a:t>
            </a:r>
          </a:p>
        </p:txBody>
      </p:sp>
      <p:sp>
        <p:nvSpPr>
          <p:cNvPr id="9" name="Chevron 8"/>
          <p:cNvSpPr/>
          <p:nvPr/>
        </p:nvSpPr>
        <p:spPr>
          <a:xfrm>
            <a:off x="3236976" y="2395728"/>
            <a:ext cx="201168" cy="384048"/>
          </a:xfrm>
          <a:prstGeom prst="chevron">
            <a:avLst/>
          </a:prstGeom>
          <a:solidFill>
            <a:srgbClr val="B5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856231"/>
            <a:ext cx="2523744" cy="1536192"/>
          </a:xfrm>
          <a:prstGeom prst="roundRect">
            <a:avLst/>
          </a:prstGeom>
          <a:solidFill>
            <a:srgbClr val="E4ECE4"/>
          </a:solidFill>
          <a:ln w="12700">
            <a:solidFill>
              <a:srgbClr val="356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2002536"/>
            <a:ext cx="2194560" cy="39319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B54"/>
                </a:solidFill>
                <a:latin typeface="Microsoft YaHei"/>
              </a:defRPr>
            </a:pPr>
            <a:r>
              <a:t>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2569464"/>
            <a:ext cx="2194560" cy="78638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43329"/>
                </a:solidFill>
                <a:latin typeface="Microsoft YaHei"/>
              </a:defRPr>
            </a:pPr>
            <a:r>
              <a:t>目标线索</a:t>
            </a:r>
          </a:p>
          <a:p>
            <a:pPr>
              <a:spcAft>
                <a:spcPts val="900"/>
              </a:spcAft>
              <a:defRPr sz="2000" b="0">
                <a:solidFill>
                  <a:srgbClr val="243329"/>
                </a:solidFill>
                <a:latin typeface="Microsoft YaHei"/>
              </a:defRPr>
            </a:pPr>
            <a:r>
              <a:t>访问历史</a:t>
            </a:r>
          </a:p>
        </p:txBody>
      </p:sp>
      <p:sp>
        <p:nvSpPr>
          <p:cNvPr id="13" name="Chevron 12"/>
          <p:cNvSpPr/>
          <p:nvPr/>
        </p:nvSpPr>
        <p:spPr>
          <a:xfrm>
            <a:off x="6135624" y="2395728"/>
            <a:ext cx="201168" cy="384048"/>
          </a:xfrm>
          <a:prstGeom prst="chevron">
            <a:avLst/>
          </a:prstGeom>
          <a:solidFill>
            <a:srgbClr val="B5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64808" y="1856231"/>
            <a:ext cx="2523744" cy="1536192"/>
          </a:xfrm>
          <a:prstGeom prst="roundRect">
            <a:avLst/>
          </a:prstGeom>
          <a:solidFill>
            <a:srgbClr val="E4ECE4"/>
          </a:solidFill>
          <a:ln w="12700">
            <a:solidFill>
              <a:srgbClr val="356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002536"/>
            <a:ext cx="2194560" cy="39319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B54"/>
                </a:solidFill>
                <a:latin typeface="Microsoft YaHei"/>
              </a:defRPr>
            </a:pPr>
            <a:r>
              <a:t>行动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569464"/>
            <a:ext cx="2194560" cy="78638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43329"/>
                </a:solidFill>
                <a:latin typeface="Microsoft YaHei"/>
              </a:defRPr>
            </a:pPr>
            <a:r>
              <a:t>上右下左</a:t>
            </a:r>
          </a:p>
          <a:p>
            <a:pPr>
              <a:spcAft>
                <a:spcPts val="900"/>
              </a:spcAft>
              <a:defRPr sz="2000" b="0">
                <a:solidFill>
                  <a:srgbClr val="243329"/>
                </a:solidFill>
                <a:latin typeface="Microsoft YaHei"/>
              </a:defRPr>
            </a:pPr>
            <a:r>
              <a:t>消耗一步</a:t>
            </a:r>
          </a:p>
        </p:txBody>
      </p:sp>
      <p:sp>
        <p:nvSpPr>
          <p:cNvPr id="17" name="Chevron 16"/>
          <p:cNvSpPr/>
          <p:nvPr/>
        </p:nvSpPr>
        <p:spPr>
          <a:xfrm>
            <a:off x="9034272" y="2395728"/>
            <a:ext cx="201168" cy="384048"/>
          </a:xfrm>
          <a:prstGeom prst="chevron">
            <a:avLst/>
          </a:prstGeom>
          <a:solidFill>
            <a:srgbClr val="B5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3456" y="1856231"/>
            <a:ext cx="2523744" cy="1536192"/>
          </a:xfrm>
          <a:prstGeom prst="roundRect">
            <a:avLst/>
          </a:prstGeom>
          <a:solidFill>
            <a:srgbClr val="E4ECE4"/>
          </a:solidFill>
          <a:ln w="12700">
            <a:solidFill>
              <a:srgbClr val="356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2002536"/>
            <a:ext cx="2194560" cy="39319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B54"/>
                </a:solidFill>
                <a:latin typeface="Microsoft YaHei"/>
              </a:defRPr>
            </a:pPr>
            <a:r>
              <a:t>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569464"/>
            <a:ext cx="2194560" cy="78638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43329"/>
                </a:solidFill>
                <a:latin typeface="Microsoft YaHei"/>
              </a:defRPr>
            </a:pPr>
            <a:r>
              <a:t>下一局部图</a:t>
            </a:r>
          </a:p>
          <a:p>
            <a:pPr>
              <a:spcAft>
                <a:spcPts val="900"/>
              </a:spcAft>
              <a:defRPr sz="2000" b="0">
                <a:solidFill>
                  <a:srgbClr val="243329"/>
                </a:solidFill>
                <a:latin typeface="Microsoft YaHei"/>
              </a:defRPr>
            </a:pPr>
            <a:r>
              <a:t>剩余预算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10972800" cy="63093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成功：预算内首次到达目标网格。SG：所有终局的距离均值，成功记 0。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10912"/>
            <a:ext cx="10972800" cy="85039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61726A"/>
                </a:solidFill>
                <a:latin typeface="Microsoft YaHei"/>
              </a:defRPr>
            </a:pPr>
            <a:r>
              <a:t>执行策略只读双图与公开位置、预算、访问历史。</a:t>
            </a:r>
          </a:p>
          <a:p>
            <a:pPr>
              <a:spcAft>
                <a:spcPts val="900"/>
              </a:spcAft>
              <a:defRPr sz="2000" b="0">
                <a:solidFill>
                  <a:srgbClr val="61726A"/>
                </a:solidFill>
                <a:latin typeface="Microsoft YaHei"/>
              </a:defRPr>
            </a:pPr>
            <a:r>
              <a:t>真实目标坐标、真实距离、未访问图块保留在环境与评测端。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参考框架落实为可运行平台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训练小模型符合正式任务要求；论文借鉴范围与完整复现区分说明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819656"/>
          <a:ext cx="108813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754880"/>
                <a:gridCol w="3886200"/>
              </a:tblGrid>
              <a:tr h="83439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参考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本项目落地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当前范围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GOMAA-Geo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航拍切图、预算搜索、历史序列决策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小型GRU替代大序列模型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GeoExplorer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预测误差与好奇心探索对照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未稳定优于PBRS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DynCur-Geo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动态门控与奖励塑形思想对照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按本地预算适配，保留负结果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468112"/>
            <a:ext cx="10789920" cy="62179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356B54"/>
                </a:solidFill>
                <a:latin typeface="Microsoft YaHei"/>
              </a:defRPr>
            </a:pPr>
            <a:r>
              <a:t>当前主方法采用 PBRS 与目标视觉线索；不宣称完整复现三篇论文。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单 Agent 把探索与可信目标线索结合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冻结图像编码器 · Small256探索器 · EdgeTargetCue视觉头 · 行动门控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04</a:t>
            </a:r>
          </a:p>
        </p:txBody>
      </p:sp>
      <p:pic>
        <p:nvPicPr>
          <p:cNvPr id="6" name="Picture 5" descr="报告_Agent闭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938" y="1636776"/>
            <a:ext cx="7631083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797296"/>
            <a:ext cx="10698480" cy="41148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1726A"/>
                </a:solidFill>
                <a:latin typeface="Microsoft YaHei"/>
              </a:defRPr>
            </a:pPr>
            <a:r>
              <a:t>探索器保持覆盖，视觉头在有可信邻接证据时接管；这两个模块属于同一导航智能体。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评测证据按源文件与协议组织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固定任务、全部权重、逐动作日志、输入哈希与重放复核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47088"/>
            <a:ext cx="2743200" cy="95097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5400" b="1">
                <a:solidFill>
                  <a:srgbClr val="356B54"/>
                </a:solidFill>
                <a:latin typeface="Microsoft YaHei"/>
              </a:defRPr>
            </a:pPr>
            <a:r>
              <a:t>151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26080"/>
            <a:ext cx="3246120" cy="55778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43329"/>
                </a:solidFill>
                <a:latin typeface="Microsoft YaHei"/>
              </a:defRPr>
            </a:pPr>
            <a:r>
              <a:t>Masa 本地源文件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847088"/>
            <a:ext cx="2743200" cy="95097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5400" b="1">
                <a:solidFill>
                  <a:srgbClr val="356B54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926080"/>
            <a:ext cx="3246120" cy="55778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43329"/>
                </a:solidFill>
                <a:latin typeface="Microsoft YaHei"/>
              </a:defRPr>
            </a:pPr>
            <a:r>
              <a:t>SwissView100 源文件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847088"/>
            <a:ext cx="2743200" cy="95097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5400" b="1">
                <a:solidFill>
                  <a:srgbClr val="356B5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6080"/>
            <a:ext cx="3246120" cy="55778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43329"/>
                </a:solidFill>
                <a:latin typeface="Microsoft YaHei"/>
              </a:defRPr>
            </a:pPr>
            <a:r>
              <a:t>每方法冻结训练权重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22376" y="3831336"/>
          <a:ext cx="10698480" cy="127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412480"/>
              </a:tblGrid>
              <a:tr h="42367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数据划分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依据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Masa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137训练 / 4验证 / 10测试；探索器109拟合、28开发留出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</a:tr>
              <a:tr h="42367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SwissView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累计48文件跑过导航，52尚未跑；预训练覆盖未知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49808" y="5486400"/>
            <a:ext cx="10698480" cy="58521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61726A"/>
                </a:solidFill>
                <a:latin typeface="Microsoft YaHei"/>
              </a:defRPr>
            </a:pPr>
            <a:r>
              <a:t>三权重、重复路线、两种网格都不增加独立地图；区间按源文件整组计算。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正式主线已完成四项验收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不同队列分别报告，不合并成一个总成功率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" y="1792224"/>
          <a:ext cx="10808206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4087368"/>
                <a:gridCol w="1874519"/>
                <a:gridCol w="1874519"/>
              </a:tblGrid>
              <a:tr h="65105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验收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协议 / 每权重题数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SR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SG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</a:tr>
              <a:tr h="65105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S2稳定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5×5 / B10 / 100题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89.33%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0.320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</a:tr>
              <a:tr h="65105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S3独立源图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5×5 / B10 / 250题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86.80%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0.300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</a:tr>
              <a:tr h="65105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S4密度扩展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10×10 / B20 / 500题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77.13%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1.201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</a:tr>
              <a:tr h="65105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SwissView迁移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5×5 / B10 / 500题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86.80%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0.381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" y="5449824"/>
            <a:ext cx="10698480" cy="61264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61726A"/>
                </a:solidFill>
                <a:latin typeface="Microsoft YaHei"/>
              </a:defRPr>
            </a:pPr>
            <a:r>
              <a:t>10×10增加同一原图内的网格密度；SwissView验证连续航拍目标的同模态迁移。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目标图收益通过干预验证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Continue5固定三份最终权重；已见20源文件，10×10/B20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07</a:t>
            </a:r>
          </a:p>
        </p:txBody>
      </p:sp>
      <p:pic>
        <p:nvPicPr>
          <p:cNvPr id="6" name="Picture 5" descr="汇报_目标证据简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96796"/>
            <a:ext cx="850392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91472" y="1892807"/>
            <a:ext cx="1947672" cy="44805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356B54"/>
                </a:solidFill>
                <a:latin typeface="Microsoft YaHei"/>
              </a:defRPr>
            </a:pPr>
            <a:r>
              <a:t>真实目标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1472" y="2468880"/>
            <a:ext cx="1920240" cy="84124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500" b="1">
                <a:solidFill>
                  <a:srgbClr val="356B54"/>
                </a:solidFill>
                <a:latin typeface="Microsoft YaHei"/>
              </a:defRPr>
            </a:pPr>
            <a:r>
              <a:t>79.73%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1472" y="3465576"/>
            <a:ext cx="1874519" cy="196596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329"/>
                </a:solidFill>
                <a:latin typeface="Microsoft YaHei"/>
              </a:defRPr>
            </a:pPr>
            <a:r>
              <a:t>对三个控制</a:t>
            </a:r>
          </a:p>
          <a:p>
            <a:pPr>
              <a:spcAft>
                <a:spcPts val="900"/>
              </a:spcAft>
              <a:defRPr sz="1800" b="0">
                <a:solidFill>
                  <a:srgbClr val="243329"/>
                </a:solidFill>
                <a:latin typeface="Microsoft YaHei"/>
              </a:defRPr>
            </a:pPr>
            <a:r>
              <a:t>均领先超过5点</a:t>
            </a:r>
          </a:p>
          <a:p>
            <a:pPr>
              <a:spcAft>
                <a:spcPts val="900"/>
              </a:spcAft>
              <a:defRPr sz="1800" b="0">
                <a:solidFill>
                  <a:srgbClr val="243329"/>
                </a:solidFill>
                <a:latin typeface="Microsoft YaHei"/>
              </a:defRPr>
            </a:pPr>
            <a:r>
              <a:t>三权重全正</a:t>
            </a:r>
          </a:p>
          <a:p>
            <a:pPr>
              <a:spcAft>
                <a:spcPts val="900"/>
              </a:spcAft>
              <a:defRPr sz="1800" b="0">
                <a:solidFill>
                  <a:srgbClr val="243329"/>
                </a:solidFill>
                <a:latin typeface="Microsoft YaHei"/>
              </a:defRPr>
            </a:pPr>
            <a:r>
              <a:t>SG同时改善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新源文件未支持继续训练升级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固定SwissView40—59号20新源文件；两个协议共用同一队列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08</a:t>
            </a:r>
          </a:p>
        </p:txBody>
      </p:sp>
      <p:pic>
        <p:nvPicPr>
          <p:cNvPr id="6" name="Picture 5" descr="报告_新源文件确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40154"/>
            <a:ext cx="8503920" cy="4173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36608" y="1828800"/>
            <a:ext cx="2148840" cy="45720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356B54"/>
                </a:solidFill>
                <a:latin typeface="Microsoft YaHei"/>
              </a:defRPr>
            </a:pPr>
            <a:r>
              <a:t>10×10 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6608" y="2377440"/>
            <a:ext cx="2057400" cy="86868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356B54"/>
                </a:solidFill>
                <a:latin typeface="Microsoft YaHei"/>
              </a:defRPr>
            </a:pPr>
            <a:r>
              <a:t>+0.60点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6608" y="3355848"/>
            <a:ext cx="1984248" cy="214884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329"/>
                </a:solidFill>
                <a:latin typeface="Microsoft YaHei"/>
              </a:defRPr>
            </a:pPr>
            <a:r>
              <a:t>1/3权重正收益</a:t>
            </a:r>
          </a:p>
          <a:p>
            <a:pPr>
              <a:spcAft>
                <a:spcPts val="900"/>
              </a:spcAft>
              <a:defRPr sz="1800" b="0">
                <a:solidFill>
                  <a:srgbClr val="243329"/>
                </a:solidFill>
                <a:latin typeface="Microsoft YaHei"/>
              </a:defRPr>
            </a:pPr>
            <a:r>
              <a:t>95%差区间含零</a:t>
            </a:r>
          </a:p>
          <a:p>
            <a:pPr>
              <a:spcAft>
                <a:spcPts val="900"/>
              </a:spcAft>
              <a:defRPr sz="1800" b="0">
                <a:solidFill>
                  <a:srgbClr val="243329"/>
                </a:solidFill>
                <a:latin typeface="Microsoft YaHei"/>
              </a:defRPr>
            </a:pPr>
            <a:r>
              <a:t>SG 1.230→0.868</a:t>
            </a:r>
          </a:p>
          <a:p>
            <a:pPr>
              <a:spcAft>
                <a:spcPts val="900"/>
              </a:spcAft>
              <a:defRPr sz="1800" b="0">
                <a:solidFill>
                  <a:srgbClr val="243329"/>
                </a:solidFill>
                <a:latin typeface="Microsoft YaHei"/>
              </a:defRPr>
            </a:pPr>
            <a:r>
              <a:t>原默认保持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其他因素保留完整正负结果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等信息与预算的对照决定是否扩大；多个候选未进入默认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819656"/>
          <a:ext cx="10771632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983480"/>
                <a:gridCol w="2862072"/>
              </a:tblGrid>
              <a:tr h="720547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路线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观察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决策</a:t>
                      </a:r>
                    </a:p>
                  </a:txBody>
                  <a:tcPr marL="100584" marR="100584" marT="73152" marB="73152" anchor="ctr">
                    <a:solidFill>
                      <a:srgbClr val="356B54"/>
                    </a:solidFill>
                  </a:tcPr>
                </a:tc>
              </a:tr>
              <a:tr h="720547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旋转/可靠性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精度提高可能损失召回与真实线索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保留边界，未稳定升级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</a:tr>
              <a:tr h="720547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云端多角色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同预算反思/双角色未增加稳定SR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支线收束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</a:tr>
              <a:tr h="720547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零调用账本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完整队列SR+1.27点，未达+2点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低成本备选</a:t>
                      </a:r>
                    </a:p>
                  </a:txBody>
                  <a:tcPr marL="100584" marR="100584" marT="73152" marB="73152" anchor="ctr">
                    <a:solidFill>
                      <a:srgbClr val="FFFFFF"/>
                    </a:solidFill>
                  </a:tcPr>
                </a:tc>
              </a:tr>
              <a:tr h="72054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协议适配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Adapt10仅比Continue5多0.27点，SG更差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43329"/>
                          </a:solidFill>
                          <a:latin typeface="Microsoft YaHei"/>
                        </a:defRPr>
                      </a:pPr>
                      <a:r>
                        <a:t>不扩大网络、不升级默认</a:t>
                      </a:r>
                    </a:p>
                  </a:txBody>
                  <a:tcPr marL="100584" marR="100584" marT="73152" marB="73152" anchor="ctr">
                    <a:solidFill>
                      <a:srgbClr val="EAF0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8" y="5705856"/>
            <a:ext cx="10698480" cy="4297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356B54"/>
                </a:solidFill>
                <a:latin typeface="Microsoft YaHei"/>
              </a:defRPr>
            </a:pPr>
            <a:r>
              <a:t>负结果解释策略权衡，仍是可追溯研究成果。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当前成果有明确适用范围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工程与仿真证据已经建立；真实部署问题仍需分项验证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847088"/>
            <a:ext cx="3319272" cy="3392424"/>
          </a:xfrm>
          <a:prstGeom prst="rect">
            <a:avLst/>
          </a:prstGeom>
          <a:solidFill>
            <a:srgbClr val="E8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084831"/>
            <a:ext cx="2926080" cy="46634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B54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880360"/>
            <a:ext cx="2880360" cy="194767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主动交互平台</a:t>
            </a:r>
          </a:p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目标图与局部视觉决策</a:t>
            </a:r>
          </a:p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S2/S3/S4与同模态迁移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4568" y="1847088"/>
            <a:ext cx="3319272" cy="3392424"/>
          </a:xfrm>
          <a:prstGeom prst="rect">
            <a:avLst/>
          </a:prstGeom>
          <a:solidFill>
            <a:srgbClr val="E8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2084831"/>
            <a:ext cx="2926080" cy="46634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B54"/>
                </a:solidFill>
                <a:latin typeface="Microsoft YaHei"/>
              </a:defRPr>
            </a:pPr>
            <a:r>
              <a:t>待验证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2880360"/>
            <a:ext cx="2880360" cy="194767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真实异时与任意角度</a:t>
            </a:r>
          </a:p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跨视角或其他目标模态</a:t>
            </a:r>
          </a:p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更大区域与无人机实飞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9328" y="1847088"/>
            <a:ext cx="3319272" cy="3392424"/>
          </a:xfrm>
          <a:prstGeom prst="rect">
            <a:avLst/>
          </a:prstGeom>
          <a:solidFill>
            <a:srgbClr val="E8E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2084831"/>
            <a:ext cx="2926080" cy="46634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B54"/>
                </a:solidFill>
                <a:latin typeface="Microsoft YaHei"/>
              </a:defRPr>
            </a:pPr>
            <a:r>
              <a:t>后续原则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2880360"/>
            <a:ext cx="2880360" cy="194767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先分析恢复与损伤</a:t>
            </a:r>
          </a:p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单因素、冻结实验协议</a:t>
            </a:r>
          </a:p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用新的源文件作确认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650992"/>
            <a:ext cx="10607040" cy="51206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61726A"/>
                </a:solidFill>
                <a:latin typeface="Microsoft YaHei"/>
              </a:defRPr>
            </a:pPr>
            <a:r>
              <a:t>界面可服务于轨迹演示；是否需要训练、多角色或GUI由任务证据决定。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93192"/>
            <a:ext cx="10972800" cy="65836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43329"/>
                </a:solidFill>
                <a:latin typeface="Microsoft YaHei"/>
              </a:defRPr>
            </a:pPr>
            <a:r>
              <a:t>交付材料与下一步安排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115568"/>
            <a:ext cx="10972800" cy="50292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1726A"/>
                </a:solidFill>
                <a:latin typeface="Microsoft YaHei"/>
              </a:defRPr>
            </a:pPr>
            <a:r>
              <a:t>统一事实口径，把重要入口、复现实验与阶段结论分开整理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437376"/>
            <a:ext cx="10789920" cy="246888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主动视觉地理定位  ·  综合工程设计中期汇报  ·  2026.10.02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428232"/>
            <a:ext cx="411480" cy="25603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1726A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694944" cy="58521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B57B3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1810512"/>
            <a:ext cx="8961120" cy="46634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6B54"/>
                </a:solidFill>
                <a:latin typeface="Microsoft YaHei"/>
              </a:defRPr>
            </a:pPr>
            <a:r>
              <a:t>报告与汇报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0512" y="2377440"/>
            <a:ext cx="8961120" cy="57607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教师模板中期报告、阶段总结、演讲提示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18104"/>
            <a:ext cx="694944" cy="58521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B57B3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3118104"/>
            <a:ext cx="8961120" cy="46634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6B54"/>
                </a:solidFill>
                <a:latin typeface="Microsoft YaHei"/>
              </a:defRPr>
            </a:pPr>
            <a:r>
              <a:t>证据与索引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685032"/>
            <a:ext cx="8961120" cy="57607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58个实验批次原目录入口、哈希与复核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25696"/>
            <a:ext cx="694944" cy="585216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B57B3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4425696"/>
            <a:ext cx="8961120" cy="46634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6B54"/>
                </a:solidFill>
                <a:latin typeface="Microsoft YaHei"/>
              </a:defRPr>
            </a:pPr>
            <a:r>
              <a:t>维护与下一步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992624"/>
            <a:ext cx="8961120" cy="576072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43329"/>
                </a:solidFill>
                <a:latin typeface="Microsoft YaHei"/>
              </a:defRPr>
            </a:pPr>
            <a:r>
              <a:t>保留默认；分析失败后另立单因素实验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6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859536"/>
            <a:ext cx="10607040" cy="46634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D4DFD5"/>
                </a:solidFill>
                <a:latin typeface="Microsoft YaHei"/>
              </a:defRPr>
            </a:pPr>
            <a:r>
              <a:t>阶段结论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929384"/>
            <a:ext cx="10241280" cy="192024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单 Agent 主线已有正式证据</a:t>
            </a:r>
          </a:p>
          <a:p>
            <a:pPr>
              <a:spcAft>
                <a:spcPts val="9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新因素按收益和独立确认推进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4151376"/>
            <a:ext cx="10149840" cy="1106424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D4DFD5"/>
                </a:solidFill>
                <a:latin typeface="Microsoft YaHei"/>
              </a:defRPr>
            </a:pPr>
            <a:r>
              <a:t>原默认保持  ·  SR优先  ·  保留SG收益与负结果</a:t>
            </a:r>
          </a:p>
          <a:p>
            <a:pPr>
              <a:spcAft>
                <a:spcPts val="900"/>
              </a:spcAft>
              <a:defRPr sz="2200" b="0">
                <a:solidFill>
                  <a:srgbClr val="D4DFD5"/>
                </a:solidFill>
                <a:latin typeface="Microsoft YaHei"/>
              </a:defRPr>
            </a:pPr>
            <a:r>
              <a:t>下一步完善课程交付并选择一个有失败证据支持的新因素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071616"/>
            <a:ext cx="9144000" cy="365760"/>
          </a:xfrm>
          <a:prstGeom prst="rect">
            <a:avLst/>
          </a:prstGeom>
          <a:noFill/>
        </p:spPr>
        <p:txBody>
          <a:bodyPr wrap="square" lIns="13716" rIns="13716" tIns="22860" bIns="2286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D4DFD5"/>
                </a:solidFill>
                <a:latin typeface="Microsoft YaHei"/>
              </a:defRPr>
            </a:pPr>
            <a:r>
              <a:t>陈德昕  李世显  陈龙辉   |   指导教师 王笛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基于主动探索的视觉地理定位方法设计与实现 中期汇报</dc:title>
  <dc:subject/>
  <dc:creator>陈德昕 李世显 陈龙辉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